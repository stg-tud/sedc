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350" r:id="rId2"/>
    <p:sldId id="345" r:id="rId3"/>
    <p:sldId id="349" r:id="rId4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A500"/>
    <a:srgbClr val="4DCAB7"/>
    <a:srgbClr val="0080C7"/>
    <a:srgbClr val="93C01F"/>
    <a:srgbClr val="B01680"/>
    <a:srgbClr val="0057D6"/>
    <a:srgbClr val="0066FF"/>
    <a:srgbClr val="9E001E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92758" autoAdjust="0"/>
  </p:normalViewPr>
  <p:slideViewPr>
    <p:cSldViewPr snapToObjects="1">
      <p:cViewPr varScale="1">
        <p:scale>
          <a:sx n="114" d="100"/>
          <a:sy n="114" d="100"/>
        </p:scale>
        <p:origin x="114" y="8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502"/>
    </p:cViewPr>
    <p:sldLst>
      <p:sld r:id="rId1" collapse="1"/>
      <p:sld r:id="rId2" collapse="1"/>
    </p:sldLst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90500" y="387350"/>
            <a:ext cx="5403850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0" rIns="0" bIns="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1300"/>
              </a:lnSpc>
              <a:defRPr sz="1000" b="1">
                <a:latin typeface="Stafford" pitchFamily="2" charset="0"/>
              </a:defRPr>
            </a:lvl1pPr>
          </a:lstStyle>
          <a:p>
            <a:endParaRPr lang="de-DE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90500" y="8567738"/>
            <a:ext cx="13303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Stafford" pitchFamily="2" charset="0"/>
              </a:defRPr>
            </a:lvl1pPr>
          </a:lstStyle>
          <a:p>
            <a:fld id="{9C2997B1-95D8-4F1A-BA13-F4553F9E97B9}" type="datetime4">
              <a:rPr lang="de-DE" smtClean="0"/>
              <a:t>23. Oktober 2017</a:t>
            </a:fld>
            <a:endParaRPr lang="de-DE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520825" y="8567738"/>
            <a:ext cx="44640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Stafford" pitchFamily="2" charset="0"/>
              </a:defRPr>
            </a:lvl1pPr>
          </a:lstStyle>
          <a:p>
            <a:r>
              <a:rPr lang="de-DE"/>
              <a:t>|  </a:t>
            </a: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999163" y="8567738"/>
            <a:ext cx="6699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Stafford" pitchFamily="2" charset="0"/>
              </a:defRPr>
            </a:lvl1pPr>
          </a:lstStyle>
          <a:p>
            <a:r>
              <a:rPr lang="de-DE"/>
              <a:t>|  </a:t>
            </a:r>
            <a:fld id="{C7CC2173-B0D1-45F1-9D54-E33B7353DA19}" type="slidenum">
              <a:rPr lang="de-DE"/>
              <a:pPr/>
              <a:t>‹#›</a:t>
            </a:fld>
            <a:endParaRPr lang="de-DE"/>
          </a:p>
        </p:txBody>
      </p:sp>
      <p:pic>
        <p:nvPicPr>
          <p:cNvPr id="50182" name="Picture 6" descr="tud_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40400" y="360363"/>
            <a:ext cx="928688" cy="417512"/>
          </a:xfrm>
          <a:prstGeom prst="rect">
            <a:avLst/>
          </a:prstGeom>
          <a:noFill/>
        </p:spPr>
      </p:pic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190500" y="179388"/>
            <a:ext cx="6478588" cy="144462"/>
          </a:xfrm>
          <a:prstGeom prst="rect">
            <a:avLst/>
          </a:prstGeom>
          <a:solidFill>
            <a:srgbClr val="B5B5B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50184" name="Line 8"/>
          <p:cNvSpPr>
            <a:spLocks noChangeShapeType="1"/>
          </p:cNvSpPr>
          <p:nvPr/>
        </p:nvSpPr>
        <p:spPr bwMode="auto">
          <a:xfrm>
            <a:off x="190500" y="360363"/>
            <a:ext cx="6478588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0185" name="Line 9"/>
          <p:cNvSpPr>
            <a:spLocks noChangeShapeType="1"/>
          </p:cNvSpPr>
          <p:nvPr/>
        </p:nvSpPr>
        <p:spPr bwMode="auto">
          <a:xfrm>
            <a:off x="190500" y="8496300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188913" y="777875"/>
            <a:ext cx="6478587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50070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5" name="Picture 13" descr="tud_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32463" y="360363"/>
            <a:ext cx="935037" cy="420687"/>
          </a:xfrm>
          <a:prstGeom prst="rect">
            <a:avLst/>
          </a:prstGeom>
          <a:noFill/>
        </p:spPr>
      </p:pic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88913" y="8685213"/>
            <a:ext cx="1619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1300"/>
              </a:lnSpc>
              <a:defRPr sz="1000">
                <a:latin typeface="Stafford" pitchFamily="2" charset="0"/>
              </a:defRPr>
            </a:lvl1pPr>
          </a:lstStyle>
          <a:p>
            <a:fld id="{40D93DB8-9889-47B7-9931-B032C6FFFA14}" type="datetime4">
              <a:rPr lang="de-DE" smtClean="0"/>
              <a:t>23. Oktober 2017</a:t>
            </a:fld>
            <a:endParaRPr lang="de-DE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71600" y="923925"/>
            <a:ext cx="4095750" cy="30718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90500" y="4284663"/>
            <a:ext cx="6477000" cy="428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808163" y="8685213"/>
            <a:ext cx="4105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ts val="1300"/>
              </a:lnSpc>
              <a:defRPr sz="1000">
                <a:latin typeface="Stafford" pitchFamily="2" charset="0"/>
              </a:defRPr>
            </a:lvl1pPr>
          </a:lstStyle>
          <a:p>
            <a:r>
              <a:rPr lang="de-DE"/>
              <a:t>|  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13438" y="8685213"/>
            <a:ext cx="9429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ts val="1300"/>
              </a:lnSpc>
              <a:defRPr sz="1000">
                <a:latin typeface="Stafford" pitchFamily="2" charset="0"/>
              </a:defRPr>
            </a:lvl1pPr>
          </a:lstStyle>
          <a:p>
            <a:r>
              <a:rPr lang="de-DE"/>
              <a:t>|  </a:t>
            </a:r>
            <a:fld id="{C36AA9A4-5D0B-4134-89A6-D8B9DAA4F25C}" type="slidenum">
              <a:rPr lang="de-DE"/>
              <a:pPr/>
              <a:t>‹#›</a:t>
            </a:fld>
            <a:endParaRPr lang="de-DE"/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190500" y="387350"/>
            <a:ext cx="540385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8000" tIns="0" rIns="0" bIns="0" anchor="ctr"/>
          <a:lstStyle/>
          <a:p>
            <a:pPr>
              <a:lnSpc>
                <a:spcPts val="1300"/>
              </a:lnSpc>
            </a:pPr>
            <a:endParaRPr lang="de-DE" sz="1000" b="1">
              <a:latin typeface="Stafford" pitchFamily="2" charset="0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190500" y="179388"/>
            <a:ext cx="6478588" cy="144462"/>
          </a:xfrm>
          <a:prstGeom prst="rect">
            <a:avLst/>
          </a:prstGeom>
          <a:solidFill>
            <a:srgbClr val="B5B5B5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>
            <a:off x="190500" y="360363"/>
            <a:ext cx="6478588" cy="0"/>
          </a:xfrm>
          <a:prstGeom prst="line">
            <a:avLst/>
          </a:prstGeom>
          <a:noFill/>
          <a:ln w="1524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083" name="Line 11"/>
          <p:cNvSpPr>
            <a:spLocks noChangeShapeType="1"/>
          </p:cNvSpPr>
          <p:nvPr/>
        </p:nvSpPr>
        <p:spPr bwMode="auto">
          <a:xfrm>
            <a:off x="190500" y="781050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084" name="Line 12"/>
          <p:cNvSpPr>
            <a:spLocks noChangeShapeType="1"/>
          </p:cNvSpPr>
          <p:nvPr/>
        </p:nvSpPr>
        <p:spPr bwMode="auto">
          <a:xfrm>
            <a:off x="190500" y="8685213"/>
            <a:ext cx="6478588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3086" name="Line 14"/>
          <p:cNvSpPr>
            <a:spLocks noChangeShapeType="1"/>
          </p:cNvSpPr>
          <p:nvPr/>
        </p:nvSpPr>
        <p:spPr bwMode="auto">
          <a:xfrm>
            <a:off x="188913" y="4103688"/>
            <a:ext cx="6478587" cy="0"/>
          </a:xfrm>
          <a:prstGeom prst="line">
            <a:avLst/>
          </a:prstGeom>
          <a:noFill/>
          <a:ln w="762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6787406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fontAlgn="base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1pPr>
    <a:lvl2pPr marL="457200" algn="l" rtl="0" fontAlgn="base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2pPr>
    <a:lvl3pPr marL="914400" algn="l" rtl="0" fontAlgn="base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3pPr>
    <a:lvl4pPr marL="1371600" algn="l" rtl="0" fontAlgn="base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4pPr>
    <a:lvl5pPr marL="1828800" algn="l" rtl="0" fontAlgn="base">
      <a:spcBef>
        <a:spcPct val="10000"/>
      </a:spcBef>
      <a:spcAft>
        <a:spcPct val="0"/>
      </a:spcAft>
      <a:defRPr sz="1200" kern="1200">
        <a:solidFill>
          <a:schemeClr val="tx1"/>
        </a:solidFill>
        <a:latin typeface="Bitstream Charter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A94E18C-0805-4C6D-9EC2-EEB28C5E356D}" type="datetime4">
              <a:rPr lang="de-DE" smtClean="0"/>
              <a:t>23. Oktober 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|  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|  </a:t>
            </a:r>
            <a:fld id="{C36AA9A4-5D0B-4134-89A6-D8B9DAA4F25C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9245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923925"/>
            <a:ext cx="4097337" cy="3071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DBA7C8D-271C-4E96-B836-CF9829EBFA0F}" type="datetime4">
              <a:rPr lang="de-DE" smtClean="0"/>
              <a:t>23. Oktober 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|  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|  </a:t>
            </a:r>
            <a:fld id="{C36AA9A4-5D0B-4134-89A6-D8B9DAA4F25C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490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0013" y="923925"/>
            <a:ext cx="4097337" cy="3071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0324EFC-D210-451E-A319-1A87C470E4FC}" type="datetime4">
              <a:rPr lang="de-DE" smtClean="0"/>
              <a:t>23. Oktober 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|  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de-DE" smtClean="0"/>
              <a:t>|  </a:t>
            </a:r>
            <a:fld id="{C36AA9A4-5D0B-4134-89A6-D8B9DAA4F25C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8490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250826" y="368300"/>
            <a:ext cx="8642350" cy="2089150"/>
          </a:xfrm>
          <a:prstGeom prst="rect">
            <a:avLst/>
          </a:prstGeom>
          <a:solidFill>
            <a:srgbClr val="A7168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de-DE"/>
          </a:p>
        </p:txBody>
      </p:sp>
      <p:sp>
        <p:nvSpPr>
          <p:cNvPr id="870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58775" y="1449388"/>
            <a:ext cx="6642117" cy="944562"/>
          </a:xfrm>
        </p:spPr>
        <p:txBody>
          <a:bodyPr lIns="0" tIns="0" rIns="0" bIns="0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Formatvorlage des Untertitelmasters durch Klicken bearbeiten</a:t>
            </a:r>
            <a:endParaRPr lang="de-DE" dirty="0"/>
          </a:p>
        </p:txBody>
      </p:sp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250826" y="196852"/>
            <a:ext cx="8642350" cy="144463"/>
          </a:xfrm>
          <a:prstGeom prst="rect">
            <a:avLst/>
          </a:prstGeom>
          <a:solidFill>
            <a:srgbClr val="A71680"/>
          </a:solidFill>
          <a:ln w="3175">
            <a:noFill/>
            <a:miter lim="800000"/>
            <a:headEnd/>
            <a:tailEnd/>
          </a:ln>
        </p:spPr>
        <p:txBody>
          <a:bodyPr/>
          <a:lstStyle/>
          <a:p>
            <a:endParaRPr lang="de-DE"/>
          </a:p>
        </p:txBody>
      </p:sp>
      <p:pic>
        <p:nvPicPr>
          <p:cNvPr id="87049" name="Picture 9" descr="tud_logo"/>
          <p:cNvPicPr>
            <a:picLocks noChangeAspect="1" noChangeArrowheads="1"/>
          </p:cNvPicPr>
          <p:nvPr/>
        </p:nvPicPr>
        <p:blipFill>
          <a:blip r:embed="rId2" cstate="print"/>
          <a:srcRect r="5453"/>
          <a:stretch>
            <a:fillRect/>
          </a:stretch>
        </p:blipFill>
        <p:spPr bwMode="auto">
          <a:xfrm>
            <a:off x="7172326" y="657227"/>
            <a:ext cx="187325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055" name="Line 15"/>
          <p:cNvSpPr>
            <a:spLocks noChangeShapeType="1"/>
          </p:cNvSpPr>
          <p:nvPr/>
        </p:nvSpPr>
        <p:spPr bwMode="auto">
          <a:xfrm>
            <a:off x="252413" y="6357958"/>
            <a:ext cx="864076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87058" name="Rectangle 18"/>
          <p:cNvSpPr>
            <a:spLocks noChangeArrowheads="1"/>
          </p:cNvSpPr>
          <p:nvPr/>
        </p:nvSpPr>
        <p:spPr bwMode="auto">
          <a:xfrm>
            <a:off x="250826" y="360365"/>
            <a:ext cx="8640763" cy="142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87059" name="Rectangle 19"/>
          <p:cNvSpPr>
            <a:spLocks noChangeArrowheads="1"/>
          </p:cNvSpPr>
          <p:nvPr/>
        </p:nvSpPr>
        <p:spPr bwMode="auto">
          <a:xfrm>
            <a:off x="250826" y="2457450"/>
            <a:ext cx="8640763" cy="793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15" name="Fußzeilenplatzhalter 3"/>
          <p:cNvSpPr txBox="1">
            <a:spLocks/>
          </p:cNvSpPr>
          <p:nvPr userDrawn="1"/>
        </p:nvSpPr>
        <p:spPr>
          <a:xfrm>
            <a:off x="252413" y="6489702"/>
            <a:ext cx="7200900" cy="2317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E482C5-58E3-4583-8C64-AB4EA00E1990}" type="datetime1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Tahoma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23.10.2017</a:t>
            </a:fld>
            <a:r>
              <a:rPr kumimoji="0" lang="de-DE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Tahoma" pitchFamily="34" charset="0"/>
              </a:rPr>
              <a:t>  |  CYSEC – </a:t>
            </a:r>
            <a:r>
              <a:rPr kumimoji="0" lang="de-DE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Tahoma" pitchFamily="34" charset="0"/>
              </a:rPr>
              <a:t>Cybersecurity</a:t>
            </a:r>
            <a:r>
              <a:rPr kumimoji="0" lang="de-DE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Tahoma" pitchFamily="34" charset="0"/>
              </a:rPr>
              <a:t> [at] TU Darmstadt |  </a:t>
            </a:r>
            <a:fld id="{8E9B2640-8CD7-45FF-9440-54608BC46479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Tahoma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ahoma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7173575" y="1667619"/>
            <a:ext cx="1872000" cy="52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716" y="1715059"/>
            <a:ext cx="1566460" cy="43053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b="1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1" y="1620002"/>
            <a:ext cx="6823569" cy="4479943"/>
          </a:xfrm>
        </p:spPr>
        <p:txBody>
          <a:bodyPr/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50196" y="651187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b="1" dirty="0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4" y="4406902"/>
            <a:ext cx="6421455" cy="1362075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4" y="2906713"/>
            <a:ext cx="642145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50196" y="651187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b="1" dirty="0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58776" y="1592265"/>
            <a:ext cx="4135438" cy="4551381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786315" y="1592265"/>
            <a:ext cx="4105274" cy="4551381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50196" y="651187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b="1" dirty="0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50196" y="651187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b="1" dirty="0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50196" y="651187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b="1" dirty="0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57620" y="1620002"/>
            <a:ext cx="5000660" cy="45061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58776" y="1620002"/>
            <a:ext cx="3106738" cy="45061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 smtClean="0"/>
              <a:t>Textmasterformate durch Klicken bearbeiten</a:t>
            </a:r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358775" y="488950"/>
            <a:ext cx="6840000" cy="8382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50196" y="651187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b="1" dirty="0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1928803"/>
            <a:ext cx="5486400" cy="279877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50196" y="651187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b="1" dirty="0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250826" y="368300"/>
            <a:ext cx="86423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>
              <a:latin typeface="+mn-lt"/>
              <a:cs typeface="Tahoma" pitchFamily="34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8775" y="488950"/>
            <a:ext cx="6642117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001" y="1620000"/>
            <a:ext cx="6640892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250826" y="196852"/>
            <a:ext cx="8642350" cy="144463"/>
          </a:xfrm>
          <a:prstGeom prst="rect">
            <a:avLst/>
          </a:prstGeom>
          <a:solidFill>
            <a:srgbClr val="A71680"/>
          </a:solidFill>
          <a:ln w="3175">
            <a:noFill/>
            <a:miter lim="800000"/>
            <a:headEnd/>
            <a:tailEnd/>
          </a:ln>
        </p:spPr>
        <p:txBody>
          <a:bodyPr/>
          <a:lstStyle/>
          <a:p>
            <a:endParaRPr lang="de-DE">
              <a:latin typeface="+mn-lt"/>
              <a:cs typeface="Tahoma" pitchFamily="34" charset="0"/>
            </a:endParaRPr>
          </a:p>
        </p:txBody>
      </p:sp>
      <p:pic>
        <p:nvPicPr>
          <p:cNvPr id="1033" name="Picture 9" descr="tud_logo"/>
          <p:cNvPicPr>
            <a:picLocks noChangeAspect="1" noChangeArrowheads="1"/>
          </p:cNvPicPr>
          <p:nvPr/>
        </p:nvPicPr>
        <p:blipFill>
          <a:blip r:embed="rId10" cstate="print"/>
          <a:srcRect r="5453"/>
          <a:stretch>
            <a:fillRect/>
          </a:stretch>
        </p:blipFill>
        <p:spPr bwMode="auto">
          <a:xfrm>
            <a:off x="7167564" y="512763"/>
            <a:ext cx="187325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8" name="Line 14"/>
          <p:cNvSpPr>
            <a:spLocks noChangeShapeType="1"/>
          </p:cNvSpPr>
          <p:nvPr/>
        </p:nvSpPr>
        <p:spPr bwMode="auto">
          <a:xfrm>
            <a:off x="250826" y="1449388"/>
            <a:ext cx="8640763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>
              <a:latin typeface="+mn-lt"/>
              <a:cs typeface="Tahoma" pitchFamily="34" charset="0"/>
            </a:endParaRPr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250826" y="366715"/>
            <a:ext cx="8640763" cy="14287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de-DE">
              <a:latin typeface="+mn-lt"/>
              <a:cs typeface="Tahoma" pitchFamily="34" charset="0"/>
            </a:endParaRPr>
          </a:p>
        </p:txBody>
      </p:sp>
      <p:sp>
        <p:nvSpPr>
          <p:cNvPr id="11" name="Line 15"/>
          <p:cNvSpPr>
            <a:spLocks noChangeShapeType="1"/>
          </p:cNvSpPr>
          <p:nvPr userDrawn="1"/>
        </p:nvSpPr>
        <p:spPr bwMode="auto">
          <a:xfrm>
            <a:off x="252413" y="6357958"/>
            <a:ext cx="8640762" cy="0"/>
          </a:xfrm>
          <a:prstGeom prst="line">
            <a:avLst/>
          </a:prstGeom>
          <a:noFill/>
          <a:ln w="762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>
              <a:latin typeface="+mn-lt"/>
              <a:cs typeface="Tahoma" pitchFamily="34" charset="0"/>
            </a:endParaRPr>
          </a:p>
        </p:txBody>
      </p:sp>
      <p:sp>
        <p:nvSpPr>
          <p:cNvPr id="13" name="Fußzeilenplatzhalter 3"/>
          <p:cNvSpPr txBox="1">
            <a:spLocks/>
          </p:cNvSpPr>
          <p:nvPr userDrawn="1"/>
        </p:nvSpPr>
        <p:spPr>
          <a:xfrm>
            <a:off x="252413" y="6489702"/>
            <a:ext cx="7200900" cy="2317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E482C5-58E3-4583-8C64-AB4EA00E1990}" type="datetime1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23.10.2017</a:t>
            </a:fld>
            <a:r>
              <a:rPr kumimoji="0" lang="de-DE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rPr>
              <a:t>  |  CYSEC – </a:t>
            </a:r>
            <a:r>
              <a:rPr kumimoji="0" lang="de-DE" sz="1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rPr>
              <a:t>Cybersecurity</a:t>
            </a:r>
            <a:r>
              <a:rPr kumimoji="0" lang="de-DE" sz="1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rPr>
              <a:t> [at] TU Darmstadt |  </a:t>
            </a:r>
            <a:fld id="{8E9B2640-8CD7-45FF-9440-54608BC46479}" type="slidenum">
              <a:rPr kumimoji="0" lang="de-DE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Tahoma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ahoma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ahoma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530" y="6395760"/>
            <a:ext cx="1566460" cy="43053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150196" y="651187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b="1" dirty="0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n-lt"/>
          <a:ea typeface="+mj-ea"/>
          <a:cs typeface="Tahoma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charset="0"/>
        </a:defRPr>
      </a:lvl9pPr>
    </p:titleStyle>
    <p:bodyStyle>
      <a:lvl1pPr marL="179388" indent="-179388" algn="l" rtl="0" eaLnBrk="1" fontAlgn="base" hangingPunct="1">
        <a:lnSpc>
          <a:spcPct val="130000"/>
        </a:lnSpc>
        <a:spcBef>
          <a:spcPts val="200"/>
        </a:spcBef>
        <a:spcAft>
          <a:spcPts val="230"/>
        </a:spcAft>
        <a:buFont typeface="Wingdings" pitchFamily="2" charset="2"/>
        <a:buNone/>
        <a:defRPr sz="2000">
          <a:solidFill>
            <a:schemeClr val="tx1"/>
          </a:solidFill>
          <a:latin typeface="+mn-lt"/>
          <a:ea typeface="+mn-ea"/>
          <a:cs typeface="Tahoma" pitchFamily="34" charset="0"/>
        </a:defRPr>
      </a:lvl1pPr>
      <a:lvl2pPr marL="179388" indent="-177800" algn="l" rtl="0" eaLnBrk="1" fontAlgn="base" hangingPunct="1">
        <a:lnSpc>
          <a:spcPct val="130000"/>
        </a:lnSpc>
        <a:spcBef>
          <a:spcPts val="200"/>
        </a:spcBef>
        <a:spcAft>
          <a:spcPts val="23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Tahoma" pitchFamily="34" charset="0"/>
        </a:defRPr>
      </a:lvl2pPr>
      <a:lvl3pPr marL="538163" indent="-187325" algn="l" rtl="0" eaLnBrk="1" fontAlgn="base" hangingPunct="1">
        <a:lnSpc>
          <a:spcPct val="130000"/>
        </a:lnSpc>
        <a:spcBef>
          <a:spcPts val="200"/>
        </a:spcBef>
        <a:spcAft>
          <a:spcPts val="230"/>
        </a:spcAft>
        <a:buFont typeface="Wingdings" pitchFamily="2" charset="2"/>
        <a:buChar char="§"/>
        <a:defRPr>
          <a:solidFill>
            <a:schemeClr val="tx1"/>
          </a:solidFill>
          <a:latin typeface="+mn-lt"/>
          <a:cs typeface="Tahoma" pitchFamily="34" charset="0"/>
        </a:defRPr>
      </a:lvl3pPr>
      <a:lvl4pPr marL="717550" indent="-173038" algn="l" rtl="0" eaLnBrk="1" fontAlgn="base" hangingPunct="1">
        <a:lnSpc>
          <a:spcPct val="130000"/>
        </a:lnSpc>
        <a:spcBef>
          <a:spcPts val="200"/>
        </a:spcBef>
        <a:spcAft>
          <a:spcPts val="23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Tahoma" pitchFamily="34" charset="0"/>
        </a:defRPr>
      </a:lvl4pPr>
      <a:lvl5pPr marL="908050" indent="-188913" algn="l" rtl="0" eaLnBrk="1" fontAlgn="base" hangingPunct="1">
        <a:lnSpc>
          <a:spcPct val="130000"/>
        </a:lnSpc>
        <a:spcBef>
          <a:spcPts val="200"/>
        </a:spcBef>
        <a:spcAft>
          <a:spcPts val="23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  <a:cs typeface="Tahoma" pitchFamily="34" charset="0"/>
        </a:defRPr>
      </a:lvl5pPr>
      <a:lvl6pPr marL="13652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6pPr>
      <a:lvl7pPr marL="18224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7pPr>
      <a:lvl8pPr marL="22796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8pPr>
      <a:lvl9pPr marL="2736850" indent="-188913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8775" y="488950"/>
            <a:ext cx="6824795" cy="838200"/>
          </a:xfrm>
        </p:spPr>
        <p:txBody>
          <a:bodyPr/>
          <a:lstStyle/>
          <a:p>
            <a:r>
              <a:rPr lang="de-DE" dirty="0" smtClean="0"/>
              <a:t>Einmal studieren – zwei Abschlüsse machen…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… und dabei ein Jahr an der TU Wien verbringen. 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-108520" y="2137151"/>
            <a:ext cx="9289032" cy="4131880"/>
            <a:chOff x="-108520" y="2137151"/>
            <a:chExt cx="9289032" cy="413188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08520" y="4637149"/>
              <a:ext cx="3528392" cy="1631882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41"/>
            <a:stretch/>
          </p:blipFill>
          <p:spPr>
            <a:xfrm>
              <a:off x="6012160" y="2137151"/>
              <a:ext cx="3168352" cy="1911029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2421"/>
            <a:stretch/>
          </p:blipFill>
          <p:spPr>
            <a:xfrm>
              <a:off x="6594725" y="4048721"/>
              <a:ext cx="2585787" cy="2214389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97196" y="2137521"/>
              <a:ext cx="2839306" cy="1916531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5856" y="4048180"/>
              <a:ext cx="3323695" cy="2214931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15"/>
            <a:stretch/>
          </p:blipFill>
          <p:spPr>
            <a:xfrm>
              <a:off x="-108520" y="2141847"/>
              <a:ext cx="3384376" cy="2495302"/>
            </a:xfrm>
            <a:prstGeom prst="rect">
              <a:avLst/>
            </a:prstGeom>
          </p:spPr>
        </p:pic>
      </p:grp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b="1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98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Aufbau des</a:t>
            </a:r>
            <a:br>
              <a:rPr lang="de-DE" dirty="0" smtClean="0"/>
            </a:br>
            <a:r>
              <a:rPr lang="de-DE" dirty="0" smtClean="0"/>
              <a:t>Double </a:t>
            </a:r>
            <a:r>
              <a:rPr lang="de-DE" dirty="0" err="1" smtClean="0"/>
              <a:t>Degree</a:t>
            </a:r>
            <a:r>
              <a:rPr lang="de-DE" dirty="0" smtClean="0"/>
              <a:t> Programms</a:t>
            </a:r>
            <a:endParaRPr lang="de-DE" dirty="0"/>
          </a:p>
        </p:txBody>
      </p:sp>
      <p:sp>
        <p:nvSpPr>
          <p:cNvPr id="5" name="Rechteck 4"/>
          <p:cNvSpPr/>
          <p:nvPr/>
        </p:nvSpPr>
        <p:spPr>
          <a:xfrm>
            <a:off x="2195736" y="4797152"/>
            <a:ext cx="6624736" cy="1368152"/>
          </a:xfrm>
          <a:prstGeom prst="rect">
            <a:avLst/>
          </a:prstGeom>
          <a:noFill/>
          <a:ln w="28575"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2195736" y="3212976"/>
            <a:ext cx="6624736" cy="1368152"/>
          </a:xfrm>
          <a:prstGeom prst="rect">
            <a:avLst/>
          </a:prstGeom>
          <a:noFill/>
          <a:ln w="28575"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2195736" y="2276872"/>
            <a:ext cx="6624736" cy="720080"/>
          </a:xfrm>
          <a:prstGeom prst="rect">
            <a:avLst/>
          </a:prstGeom>
          <a:noFill/>
          <a:ln w="28575">
            <a:solidFill>
              <a:schemeClr val="accent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9" name="Gerade Verbindung mit Pfeil 8"/>
          <p:cNvCxnSpPr/>
          <p:nvPr/>
        </p:nvCxnSpPr>
        <p:spPr>
          <a:xfrm flipV="1">
            <a:off x="1979712" y="1844824"/>
            <a:ext cx="0" cy="4320480"/>
          </a:xfrm>
          <a:prstGeom prst="straightConnector1">
            <a:avLst/>
          </a:prstGeom>
          <a:ln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/>
          <p:nvPr/>
        </p:nvCxnSpPr>
        <p:spPr>
          <a:xfrm>
            <a:off x="1763688" y="4797152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13"/>
          <p:cNvCxnSpPr/>
          <p:nvPr/>
        </p:nvCxnSpPr>
        <p:spPr>
          <a:xfrm>
            <a:off x="1763688" y="3212976"/>
            <a:ext cx="2160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/>
          <p:cNvSpPr txBox="1"/>
          <p:nvPr/>
        </p:nvSpPr>
        <p:spPr>
          <a:xfrm>
            <a:off x="373109" y="5692606"/>
            <a:ext cx="1429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1. Semester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373109" y="4941168"/>
            <a:ext cx="1429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</a:t>
            </a:r>
            <a:r>
              <a:rPr lang="de-DE" dirty="0" smtClean="0"/>
              <a:t>. Semester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373109" y="4167949"/>
            <a:ext cx="1429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</a:t>
            </a:r>
            <a:r>
              <a:rPr lang="de-DE" dirty="0" smtClean="0"/>
              <a:t>. Semester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373109" y="3356992"/>
            <a:ext cx="1429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4. Semester</a:t>
            </a:r>
            <a:endParaRPr lang="de-DE" dirty="0"/>
          </a:p>
        </p:txBody>
      </p:sp>
      <p:sp>
        <p:nvSpPr>
          <p:cNvPr id="19" name="Textfeld 18"/>
          <p:cNvSpPr txBox="1"/>
          <p:nvPr/>
        </p:nvSpPr>
        <p:spPr>
          <a:xfrm>
            <a:off x="373109" y="2420888"/>
            <a:ext cx="1429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</a:t>
            </a:r>
            <a:r>
              <a:rPr lang="de-DE" dirty="0" smtClean="0"/>
              <a:t>. Semester</a:t>
            </a:r>
            <a:endParaRPr lang="de-DE" dirty="0"/>
          </a:p>
        </p:txBody>
      </p:sp>
      <p:pic>
        <p:nvPicPr>
          <p:cNvPr id="20" name="Bild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798" y="3413850"/>
            <a:ext cx="846336" cy="846336"/>
          </a:xfrm>
          <a:prstGeom prst="rect">
            <a:avLst/>
          </a:prstGeom>
        </p:spPr>
      </p:pic>
      <p:pic>
        <p:nvPicPr>
          <p:cNvPr id="21" name="Bild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3983" y="5094725"/>
            <a:ext cx="1765966" cy="810957"/>
          </a:xfrm>
          <a:prstGeom prst="rect">
            <a:avLst/>
          </a:prstGeom>
        </p:spPr>
      </p:pic>
      <p:sp>
        <p:nvSpPr>
          <p:cNvPr id="22" name="Textfeld 21"/>
          <p:cNvSpPr txBox="1"/>
          <p:nvPr/>
        </p:nvSpPr>
        <p:spPr>
          <a:xfrm>
            <a:off x="4224342" y="3513853"/>
            <a:ext cx="4596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Grundlagen im Master „Software</a:t>
            </a:r>
            <a:br>
              <a:rPr lang="de-DE" dirty="0" smtClean="0"/>
            </a:br>
            <a:r>
              <a:rPr lang="de-DE" dirty="0" smtClean="0"/>
              <a:t>Engineering &amp; Internet Computing“ (60 CP)</a:t>
            </a:r>
            <a:endParaRPr lang="de-DE" dirty="0"/>
          </a:p>
        </p:txBody>
      </p:sp>
      <p:sp>
        <p:nvSpPr>
          <p:cNvPr id="23" name="Textfeld 22"/>
          <p:cNvSpPr txBox="1"/>
          <p:nvPr/>
        </p:nvSpPr>
        <p:spPr>
          <a:xfrm>
            <a:off x="4261832" y="5177037"/>
            <a:ext cx="3262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Spezialisierung im </a:t>
            </a:r>
          </a:p>
          <a:p>
            <a:r>
              <a:rPr lang="de-DE" dirty="0" smtClean="0"/>
              <a:t>Master „IT-Sicherheit“ (60 CP)</a:t>
            </a:r>
            <a:endParaRPr lang="de-DE" dirty="0"/>
          </a:p>
        </p:txBody>
      </p:sp>
      <p:sp>
        <p:nvSpPr>
          <p:cNvPr id="24" name="Textfeld 23"/>
          <p:cNvSpPr txBox="1"/>
          <p:nvPr/>
        </p:nvSpPr>
        <p:spPr>
          <a:xfrm>
            <a:off x="2229970" y="2311895"/>
            <a:ext cx="6590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smtClean="0"/>
              <a:t>Abschlussarbeit (30 CP)</a:t>
            </a:r>
          </a:p>
          <a:p>
            <a:pPr algn="ctr"/>
            <a:r>
              <a:rPr lang="de-DE" dirty="0" smtClean="0"/>
              <a:t>gemeinsam betreut v. TU Wien / TU Darmstadt  </a:t>
            </a:r>
            <a:endParaRPr lang="de-DE" dirty="0"/>
          </a:p>
        </p:txBody>
      </p:sp>
      <p:sp>
        <p:nvSpPr>
          <p:cNvPr id="25" name="Pfeil nach unten 24"/>
          <p:cNvSpPr/>
          <p:nvPr/>
        </p:nvSpPr>
        <p:spPr>
          <a:xfrm rot="16200000">
            <a:off x="2447643" y="1631113"/>
            <a:ext cx="414046" cy="48581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/>
          <p:cNvSpPr txBox="1"/>
          <p:nvPr/>
        </p:nvSpPr>
        <p:spPr>
          <a:xfrm>
            <a:off x="3059832" y="1541942"/>
            <a:ext cx="55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Zwei Abschlussurkunden: </a:t>
            </a:r>
            <a:br>
              <a:rPr lang="de-DE" dirty="0" smtClean="0"/>
            </a:br>
            <a:r>
              <a:rPr lang="de-DE" dirty="0" err="1" smtClean="0"/>
              <a:t>M.Sc</a:t>
            </a:r>
            <a:r>
              <a:rPr lang="de-DE" dirty="0" smtClean="0"/>
              <a:t>. (TU Darmstadt), Dipl.-Ing. (TU Wien)</a:t>
            </a:r>
            <a:endParaRPr lang="de-D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b="1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07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FAQ</a:t>
            </a:r>
            <a:endParaRPr lang="de-DE" dirty="0"/>
          </a:p>
        </p:txBody>
      </p:sp>
      <p:sp>
        <p:nvSpPr>
          <p:cNvPr id="4" name="Inhaltsplatzhalter 2"/>
          <p:cNvSpPr>
            <a:spLocks noGrp="1"/>
          </p:cNvSpPr>
          <p:nvPr>
            <p:ph idx="1"/>
          </p:nvPr>
        </p:nvSpPr>
        <p:spPr>
          <a:xfrm>
            <a:off x="360000" y="1700808"/>
            <a:ext cx="8604488" cy="4479943"/>
          </a:xfrm>
        </p:spPr>
        <p:txBody>
          <a:bodyPr/>
          <a:lstStyle/>
          <a:p>
            <a:pPr marL="0" indent="0">
              <a:lnSpc>
                <a:spcPct val="100000"/>
              </a:lnSpc>
            </a:pPr>
            <a:r>
              <a:rPr lang="de-DE" sz="1600" b="1" dirty="0" smtClean="0"/>
              <a:t>Wo und bis wann muss ich mich bewerben?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de-DE" sz="1600" dirty="0" smtClean="0"/>
              <a:t>Beim </a:t>
            </a:r>
            <a:r>
              <a:rPr lang="de-DE" sz="1600" dirty="0"/>
              <a:t>Auslandsbeauftragten des </a:t>
            </a:r>
            <a:r>
              <a:rPr lang="de-DE" sz="1600" dirty="0" smtClean="0"/>
              <a:t>FBI, </a:t>
            </a:r>
            <a:r>
              <a:rPr lang="de-DE" sz="1600" dirty="0"/>
              <a:t>Tim Neubacher (</a:t>
            </a:r>
            <a:r>
              <a:rPr lang="de-DE" sz="1600" dirty="0" smtClean="0"/>
              <a:t>ausland@informatik.tu-darmstadt.de)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de-DE" sz="1600" dirty="0" smtClean="0"/>
              <a:t>Bis zum 30.11.2017 (</a:t>
            </a:r>
            <a:r>
              <a:rPr lang="de-DE" sz="1600" dirty="0"/>
              <a:t>Bewerbungsfrist für </a:t>
            </a:r>
            <a:r>
              <a:rPr lang="de-DE" sz="1600" dirty="0" smtClean="0"/>
              <a:t>Erasmus-Förderung für </a:t>
            </a:r>
            <a:r>
              <a:rPr lang="de-DE" sz="1600" dirty="0"/>
              <a:t>WS 2018/19</a:t>
            </a:r>
            <a:r>
              <a:rPr lang="de-DE" sz="1600" dirty="0" smtClean="0"/>
              <a:t>)</a:t>
            </a:r>
          </a:p>
          <a:p>
            <a:pPr marL="0" indent="0">
              <a:lnSpc>
                <a:spcPct val="100000"/>
              </a:lnSpc>
            </a:pPr>
            <a:r>
              <a:rPr lang="de-DE" sz="1600" b="1" dirty="0" smtClean="0"/>
              <a:t>Welche </a:t>
            </a:r>
            <a:r>
              <a:rPr lang="de-DE" sz="1600" b="1" dirty="0"/>
              <a:t>Unterlagen sind </a:t>
            </a:r>
            <a:r>
              <a:rPr lang="de-DE" sz="1600" b="1" dirty="0" smtClean="0"/>
              <a:t>einzureichen?</a:t>
            </a:r>
            <a:endParaRPr lang="de-DE" sz="1600" dirty="0" smtClean="0"/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de-DE" sz="1600" dirty="0" smtClean="0"/>
              <a:t>Motivationsschreiben</a:t>
            </a:r>
            <a:r>
              <a:rPr lang="de-DE" sz="1600" dirty="0"/>
              <a:t>, aktuelle </a:t>
            </a:r>
            <a:r>
              <a:rPr lang="de-DE" sz="1600" dirty="0" smtClean="0"/>
              <a:t>Notenübersicht</a:t>
            </a:r>
            <a:endParaRPr lang="de-DE" sz="1600" i="1" dirty="0"/>
          </a:p>
          <a:p>
            <a:pPr marL="0" indent="0">
              <a:lnSpc>
                <a:spcPct val="100000"/>
              </a:lnSpc>
            </a:pPr>
            <a:r>
              <a:rPr lang="de-DE" sz="1600" b="1" dirty="0"/>
              <a:t>Welche Zugangsvoraussetzungen gibt </a:t>
            </a:r>
            <a:r>
              <a:rPr lang="de-DE" sz="1600" b="1" dirty="0" smtClean="0"/>
              <a:t>es?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de-DE" sz="1600" dirty="0" smtClean="0"/>
              <a:t>Zulassung </a:t>
            </a:r>
            <a:r>
              <a:rPr lang="de-DE" sz="1600" dirty="0"/>
              <a:t>zum Master-Studium an der TU </a:t>
            </a:r>
            <a:r>
              <a:rPr lang="de-DE" sz="1600" dirty="0" smtClean="0"/>
              <a:t>Darmstadt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de-DE" sz="1600" dirty="0" smtClean="0"/>
              <a:t>Notenschnitt </a:t>
            </a:r>
            <a:r>
              <a:rPr lang="de-DE" sz="1600" dirty="0"/>
              <a:t>im Bachelor &lt;2.0, sonst Empfehlung eines/einer </a:t>
            </a:r>
            <a:r>
              <a:rPr lang="de-DE" sz="1600" dirty="0" smtClean="0"/>
              <a:t>Professors/Professorin</a:t>
            </a:r>
            <a:endParaRPr lang="de-DE" sz="1600" dirty="0"/>
          </a:p>
          <a:p>
            <a:pPr marL="0" indent="0">
              <a:lnSpc>
                <a:spcPct val="100000"/>
              </a:lnSpc>
            </a:pPr>
            <a:r>
              <a:rPr lang="de-DE" sz="1600" b="1" dirty="0"/>
              <a:t>Was passiert </a:t>
            </a:r>
            <a:r>
              <a:rPr lang="de-DE" sz="1600" b="1" dirty="0" smtClean="0"/>
              <a:t>nach der Zulassung?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de-DE" sz="1600" dirty="0" smtClean="0"/>
              <a:t>Erarbeitung </a:t>
            </a:r>
            <a:r>
              <a:rPr lang="de-DE" sz="1600" dirty="0"/>
              <a:t>eines individuellen </a:t>
            </a:r>
            <a:r>
              <a:rPr lang="de-DE" sz="1600" dirty="0" smtClean="0"/>
              <a:t>Studienplans, der </a:t>
            </a:r>
            <a:r>
              <a:rPr lang="de-DE" sz="1600" dirty="0"/>
              <a:t>mit beiden Universitäten abgestimmt </a:t>
            </a:r>
            <a:r>
              <a:rPr lang="de-DE" sz="1600" dirty="0" smtClean="0"/>
              <a:t>wird </a:t>
            </a:r>
          </a:p>
          <a:p>
            <a:pPr marL="0" indent="0">
              <a:lnSpc>
                <a:spcPct val="100000"/>
              </a:lnSpc>
            </a:pPr>
            <a:r>
              <a:rPr lang="de-DE" sz="1600" b="1" dirty="0" smtClean="0"/>
              <a:t>An </a:t>
            </a:r>
            <a:r>
              <a:rPr lang="de-DE" sz="1600" b="1" dirty="0"/>
              <a:t>wen kann ich mich </a:t>
            </a:r>
            <a:r>
              <a:rPr lang="de-DE" sz="1600" b="1" dirty="0" smtClean="0"/>
              <a:t>wenden?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de-DE" sz="1600" dirty="0" smtClean="0"/>
              <a:t>Prof</a:t>
            </a:r>
            <a:r>
              <a:rPr lang="de-DE" sz="1600" dirty="0"/>
              <a:t>. Stefan Katzenbeisser, TU Darmstadt (</a:t>
            </a:r>
            <a:r>
              <a:rPr lang="de-DE" sz="1600" dirty="0" smtClean="0"/>
              <a:t>msc_itsec@informatik.tu-darmstadt.de)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de-DE" sz="1600" dirty="0" smtClean="0"/>
              <a:t>Univ</a:t>
            </a:r>
            <a:r>
              <a:rPr lang="de-DE" sz="1600" dirty="0"/>
              <a:t>.-Prof. Matteo Maffei, TU </a:t>
            </a:r>
            <a:r>
              <a:rPr lang="de-DE" sz="1600" dirty="0" smtClean="0"/>
              <a:t>Wien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de-DE" sz="1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b="1" smtClean="0">
                <a:solidFill>
                  <a:schemeClr val="accent1"/>
                </a:solidFill>
              </a:rPr>
              <a:t>www.cysec.tu-darmstadt.de/tu-wien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440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äsentationsvorlage_BWL9">
  <a:themeElements>
    <a:clrScheme name="CYSEC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A71680"/>
      </a:accent1>
      <a:accent2>
        <a:srgbClr val="680E50"/>
      </a:accent2>
      <a:accent3>
        <a:srgbClr val="FFFFFF"/>
      </a:accent3>
      <a:accent4>
        <a:srgbClr val="000000"/>
      </a:accent4>
      <a:accent5>
        <a:srgbClr val="EF89D4"/>
      </a:accent5>
      <a:accent6>
        <a:srgbClr val="7F7F7F"/>
      </a:accent6>
      <a:hlink>
        <a:srgbClr val="0000FF"/>
      </a:hlink>
      <a:folHlink>
        <a:srgbClr val="A71680"/>
      </a:folHlink>
    </a:clrScheme>
    <a:fontScheme name="v1_TUD_Präsentation_r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1_TUD_Präsentation_r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1_TUD_Präsentation_ro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1_TUD_Präsentation_ro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Präsentationsvorlage_BWL9</Template>
  <TotalTime>44</TotalTime>
  <Words>187</Words>
  <Application>Microsoft Office PowerPoint</Application>
  <PresentationFormat>On-screen Show (4:3)</PresentationFormat>
  <Paragraphs>40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Bitstream Charter</vt:lpstr>
      <vt:lpstr>Stafford</vt:lpstr>
      <vt:lpstr>Tahoma</vt:lpstr>
      <vt:lpstr>Wingdings</vt:lpstr>
      <vt:lpstr>Präsentationsvorlage_BWL9</vt:lpstr>
      <vt:lpstr>Einmal studieren – zwei Abschlüsse machen…</vt:lpstr>
      <vt:lpstr>Aufbau des Double Degree Programms</vt:lpstr>
      <vt:lpstr>FAQ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Moritz Lohse</dc:creator>
  <cp:lastModifiedBy>Ann-Kathrin Braun</cp:lastModifiedBy>
  <cp:revision>294</cp:revision>
  <dcterms:created xsi:type="dcterms:W3CDTF">2009-12-23T09:42:49Z</dcterms:created>
  <dcterms:modified xsi:type="dcterms:W3CDTF">2017-10-23T07:22:42Z</dcterms:modified>
</cp:coreProperties>
</file>